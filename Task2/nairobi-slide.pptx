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792BD2-DF4D-4FC5-8DB6-7BA5CD2FA2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348D0E-2290-4678-98EE-95DD23DF31E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278B79-BAB9-4D08-A169-3C734B299E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426843-3372-4251-8898-3D601352F6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280D0F-6189-4F01-8BC4-1FB9D7A3DB2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298D49-D83F-4803-9C44-440FCB69D0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C53701-ED1C-4546-9F94-CB092A142C1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765089-10C2-45B8-A9C1-88D6D9709D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07F92B-197A-4DA1-A2A1-047E432D83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EDFFB6-D198-4ACD-8D1E-E65476A19E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FB4200-123E-4D63-9189-B977D446F7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365760" y="228600"/>
            <a:ext cx="1142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21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Запуск 15.10 в рамках $5 000/мес и 6 человек: модульный монолит сейчас, сервисы - по измеримым триггерам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365760" y="987480"/>
            <a:ext cx="11429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300" strike="noStrike" u="none">
                <a:solidFill>
                  <a:srgbClr val="5a5a5a"/>
                </a:solidFill>
                <a:effectLst/>
                <a:uFillTx/>
                <a:latin typeface="Calibri"/>
              </a:rPr>
              <a:t>Решение ADR-001 · все цифры из TCO-модели на 5 лет, включая ФОТ · Найроби, 18.08.2026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3"/>
          <p:cNvSpPr/>
          <p:nvPr/>
        </p:nvSpPr>
        <p:spPr>
          <a:xfrm>
            <a:off x="365760" y="1463040"/>
            <a:ext cx="5760360" cy="3382920"/>
          </a:xfrm>
          <a:prstGeom prst="rect">
            <a:avLst/>
          </a:prstGeom>
          <a:solidFill>
            <a:srgbClr val="eef3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4"/>
          <p:cNvSpPr/>
          <p:nvPr/>
        </p:nvSpPr>
        <p:spPr>
          <a:xfrm>
            <a:off x="457200" y="1508760"/>
            <a:ext cx="5577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Три реальных варианта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" name="Table 5"/>
          <p:cNvGraphicFramePr/>
          <p:nvPr/>
        </p:nvGraphicFramePr>
        <p:xfrm>
          <a:off x="457200" y="1874520"/>
          <a:ext cx="5577480" cy="2967480"/>
        </p:xfrm>
        <a:graphic>
          <a:graphicData uri="http://schemas.openxmlformats.org/drawingml/2006/table">
            <a:tbl>
              <a:tblPr/>
              <a:tblGrid>
                <a:gridCol w="1874160"/>
                <a:gridCol w="1234440"/>
                <a:gridCol w="1143000"/>
                <a:gridCol w="1325880"/>
              </a:tblGrid>
              <a:tr h="404640">
                <a:tc>
                  <a:txBody>
                    <a:bodyPr lIns="45720" rIns="45720" tIns="18000" bIns="18000" anchor="ctr">
                      <a:noAutofit/>
                    </a:bodyPr>
                    <a:p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A. Модульный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монолит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B. 6 сервисов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C. Микросервисы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(письмо CTO)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404640">
                <a:tc>
                  <a:txBody>
                    <a:bodyPr lIns="45720"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Облако + SaaS, Год 1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b7a4b"/>
                          </a:solidFill>
                          <a:effectLst/>
                          <a:uFillTx/>
                          <a:latin typeface="Calibri"/>
                        </a:rPr>
                        <a:t>$4 750/мес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b02a2a"/>
                          </a:solidFill>
                          <a:effectLst/>
                          <a:uFillTx/>
                          <a:latin typeface="Calibri"/>
                        </a:rPr>
                        <a:t>$8 650/мес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b02a2a"/>
                          </a:solidFill>
                          <a:effectLst/>
                          <a:uFillTx/>
                          <a:latin typeface="Calibri"/>
                        </a:rPr>
                        <a:t>$23 658/мес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640">
                <a:tc>
                  <a:txBody>
                    <a:bodyPr lIns="45720"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Команда на старте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b7a4b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b02a2a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b02a2a"/>
                          </a:solidFill>
                          <a:effectLst/>
                          <a:uFillTx/>
                          <a:latin typeface="Calibri"/>
                        </a:rPr>
                        <a:t>17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640">
                <a:tc>
                  <a:txBody>
                    <a:bodyPr lIns="45720"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TCO 5 лет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b7a4b"/>
                          </a:solidFill>
                          <a:effectLst/>
                          <a:uFillTx/>
                          <a:latin typeface="Calibri"/>
                        </a:rPr>
                        <a:t>$42,8 млн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$45,3 млн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$53,6 млн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640">
                <a:tc>
                  <a:txBody>
                    <a:bodyPr lIns="45720"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Стоимость заказа, Г1 -&gt; Г2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b7a4b"/>
                          </a:solidFill>
                          <a:effectLst/>
                          <a:uFillTx/>
                          <a:latin typeface="Calibri"/>
                        </a:rPr>
                        <a:t>$2,28 -&gt; 1,36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$2,85 -&gt; 1,55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$4,49 -&gt; 2,07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640">
                <a:tc>
                  <a:txBody>
                    <a:bodyPr lIns="45720"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Целевой SLO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b7a4b"/>
                          </a:solidFill>
                          <a:effectLst/>
                          <a:uFillTx/>
                          <a:latin typeface="Calibri"/>
                        </a:rPr>
                        <a:t>99,9 %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99,95 %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99,99 %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640">
                <a:tc>
                  <a:txBody>
                    <a:bodyPr lIns="45720" rIns="45720" tIns="1800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Риск не успеть к 15.10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b7a4b"/>
                          </a:solidFill>
                          <a:effectLst/>
                          <a:uFillTx/>
                          <a:latin typeface="Calibri"/>
                        </a:rPr>
                        <a:t>~25 %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~60 %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&gt; 95 %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"/>
          <p:cNvSpPr/>
          <p:nvPr/>
        </p:nvSpPr>
        <p:spPr>
          <a:xfrm>
            <a:off x="6309360" y="1463040"/>
            <a:ext cx="2742840" cy="3382920"/>
          </a:xfrm>
          <a:prstGeom prst="rect">
            <a:avLst/>
          </a:prstGeom>
          <a:solidFill>
            <a:srgbClr val="eef3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7"/>
          <p:cNvSpPr/>
          <p:nvPr/>
        </p:nvSpPr>
        <p:spPr>
          <a:xfrm>
            <a:off x="6400800" y="1508760"/>
            <a:ext cx="2559960" cy="31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Цена ошибки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Построили под 10 млн, пришло 50 тыс.: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b02a2a"/>
                </a:solidFill>
                <a:effectLst/>
                <a:uFillTx/>
                <a:latin typeface="Calibri"/>
              </a:rPr>
              <a:t>$0,88 млн впустую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за 9 мес runway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Построили A, пришло 10 млн: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800" strike="noStrike" u="none">
                <a:solidFill>
                  <a:srgbClr val="0b7a4b"/>
                </a:solidFill>
                <a:effectLst/>
                <a:uFillTx/>
                <a:latin typeface="Calibri"/>
              </a:rPr>
              <a:t>$0,18 млн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на вынос модулей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Доступность C окупается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при минуте ≥ $3 600 (GMV ≈ $378 млн/год). 99,99 % на монолите - при GMV ≈ $142 млн/год. $12k/мин = GMV $6,3 млрд/год.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9235440" y="1463040"/>
            <a:ext cx="2605680" cy="3382920"/>
          </a:xfrm>
          <a:prstGeom prst="rect">
            <a:avLst/>
          </a:prstGeom>
          <a:solidFill>
            <a:srgbClr val="eef3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9326880" y="1508760"/>
            <a:ext cx="2468520" cy="29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Не делаем до триггера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Сервисы, Istio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- MAU &gt; 1,5 млн или команда &gt; 12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Kafka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- &gt; 500 событий/с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99,99 % для оплаты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- GMV ≥ $142 млн/год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Своя логистика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— сборы &gt; 3 % GMV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Oracle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- не планируем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trike="noStrike" u="none">
                <a:solidFill>
                  <a:srgbClr val="0b7a4b"/>
                </a:solidFill>
                <a:effectLst/>
                <a:uFillTx/>
                <a:latin typeface="Calibri"/>
              </a:rPr>
              <a:t>Принято из письма CTO сразу:</a:t>
            </a:r>
            <a:r>
              <a:rPr b="0" lang="en-US" sz="12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 Go, Kubernetes, GitOps, OpenTelemetry, on-prem для данных NG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0"/>
          <p:cNvSpPr/>
          <p:nvPr/>
        </p:nvSpPr>
        <p:spPr>
          <a:xfrm>
            <a:off x="365760" y="4983480"/>
            <a:ext cx="11475360" cy="1599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457200" y="5029200"/>
            <a:ext cx="11246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5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Прошу решить сегодня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2"/>
          <p:cNvSpPr/>
          <p:nvPr/>
        </p:nvSpPr>
        <p:spPr>
          <a:xfrm>
            <a:off x="457200" y="5394960"/>
            <a:ext cx="56232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К. Орлов: </a:t>
            </a:r>
            <a:r>
              <a:rPr b="0" lang="en-US" sz="13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SLO 99,9 % для заказа и оплаты на запуске, «деньги не теряются никогда»; 99,99 % - по триггеру GMV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3"/>
          <p:cNvSpPr/>
          <p:nvPr/>
        </p:nvSpPr>
        <p:spPr>
          <a:xfrm>
            <a:off x="6172200" y="5394960"/>
            <a:ext cx="5623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А. Вебер: </a:t>
            </a:r>
            <a:r>
              <a:rPr b="0" lang="en-US" sz="13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утвердить $4 750/мес и закупку площадок в Лагосе и Найроби до 21.08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457200" y="5961960"/>
            <a:ext cx="56232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Р. Менон: </a:t>
            </a:r>
            <a:r>
              <a:rPr b="0" lang="en-US" sz="13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письмо A5 - целевое состояние Года 2–3 с триггерами; совместное владение ADR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6172200" y="5961960"/>
            <a:ext cx="56232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300" strike="noStrike" u="none">
                <a:solidFill>
                  <a:srgbClr val="1f3864"/>
                </a:solidFill>
                <a:effectLst/>
                <a:uFillTx/>
                <a:latin typeface="Calibri"/>
              </a:rPr>
              <a:t>М. Лефевр: </a:t>
            </a:r>
            <a:r>
              <a:rPr b="0" lang="en-US" sz="13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scope релиза 15.10: путь покупателя + минимальный бэк-офис; остальное - roadmap Года 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LibreOffice/25.2.3.2$Linux_X86_64 LibreOffice_project/520$Build-2</Application>
  <AppVersion>15.0000</AppVersion>
  <Words>279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2026-08-16T18:20:00Z</dcterms:created>
  <dc:creator/>
  <dc:description/>
  <dc:language>ru-RU</dc:language>
  <cp:lastModifiedBy/>
  <dcterms:modified xsi:type="dcterms:W3CDTF">2026-10-04T11:09:11Z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